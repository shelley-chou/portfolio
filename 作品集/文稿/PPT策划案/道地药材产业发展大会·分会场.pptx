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5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573A"/>
    <a:srgbClr val="9F4928"/>
    <a:srgbClr val="FBE5D6"/>
    <a:srgbClr val="1636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AEB37E-2D3A-42C8-A143-C26B1EB335EA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F7319-6E15-47DA-BA9A-0B1D0964B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59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F7319-6E15-47DA-BA9A-0B1D0964BE7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788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F7319-6E15-47DA-BA9A-0B1D0964BE7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733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F7319-6E15-47DA-BA9A-0B1D0964BE7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199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8C819-9393-924B-F89B-429E330E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89AEE4-7273-0F74-C3F4-4CA423613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B8C54E-9268-8F36-B446-89DD0E709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B3EDDE-372A-5C34-C88B-BE92667D7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F7319-6E15-47DA-BA9A-0B1D0964BE7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133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F7319-6E15-47DA-BA9A-0B1D0964BE7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606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9CA2E-A5EF-1EB9-C1AB-B9D96465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3938FD-C020-3E6A-7766-B80A8DDBD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238BEB-F525-AEB2-913D-2714E8892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35EAAD-7199-AAD9-266E-996DB0D00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F7319-6E15-47DA-BA9A-0B1D0964BE7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124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F97F4-9DDD-BB9C-9EC0-BCB98EE95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256840-707F-37F3-338B-D4C54247E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3CA331-542A-565B-A6A5-252267E6A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2020-F406-4725-B3DF-43FDC076D78B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F6D626-B41D-57FC-0A49-CED3821C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870415-59FC-F991-105F-0CF3613FD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7221-FAD6-4E52-8255-E6230D941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12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0B440-C1E7-C0D7-9434-BE4F5755B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F5DC0D-73C2-0C6B-DF25-AFAE253CD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1EEFF1-AA28-4D67-2FF9-5EBFEADB4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2020-F406-4725-B3DF-43FDC076D78B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3E54B1-EC57-2DA5-C351-F2216538E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6E3CCC-753D-F02F-1253-E3DD9D1B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7221-FAD6-4E52-8255-E6230D941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34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426153-5A1B-39B1-8EF1-B377464EC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EC6066-2037-EC74-4D15-B43BB6143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F3B99D-D416-419B-9D84-7B4BA1566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2020-F406-4725-B3DF-43FDC076D78B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A1F350-F4EE-6E6A-4AC9-507344215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C3AA1-7461-68B5-1E4D-D068EE7F4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7221-FAD6-4E52-8255-E6230D941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057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41CB2-949F-F0F9-5AA4-AF54CFC79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6D8D28-FD98-2880-96F2-50CECEE4CE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3A5D6C-6BD9-B3BF-4144-9688F2EBC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699F5C-CF99-0ECF-22FB-848CE481E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2020-F406-4725-B3DF-43FDC076D78B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05735C-A522-6D77-06E3-8AB06632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85D9CE-CE7D-D0CF-8B60-E128AD89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7221-FAD6-4E52-8255-E6230D941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861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2FC30-D47A-4FD5-3388-C1EC62FD5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4A4FC1-69A7-D67E-B9B9-AFA05714E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AD5B29-FBFF-B8D5-2AD5-51F0239E8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F60E6C-0374-E520-CB14-280A64D2A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7340CC-4423-0E8D-EEBC-F720BBD414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0FABEF-4524-E786-D9FA-2C382396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2020-F406-4725-B3DF-43FDC076D78B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D53E0D-888C-C695-DC91-25FC5032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8ED11D-C401-4972-2A21-41537FB8C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7221-FAD6-4E52-8255-E6230D941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52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F6940-1008-DA29-B8E8-DABDE9A0B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5B4B14-C52C-F696-0463-42582D93B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2020-F406-4725-B3DF-43FDC076D78B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C738AF-51C5-2177-82BF-978994BE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03373-47F4-391F-1E32-868F2244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7221-FAD6-4E52-8255-E6230D941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021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6CD1731-F61B-A22D-C3B4-F08DA6D8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2020-F406-4725-B3DF-43FDC076D78B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25ECDF-7338-ECC1-B337-AA9DF0AA1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032569-3CE3-A7A9-E63C-7C3EFCEC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7221-FAD6-4E52-8255-E6230D941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571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17C1BB-FBAA-B5D9-0FDA-278BE1070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28F865-E686-8C36-5CE1-93189222D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8C3E92-4240-F3AF-0180-09C9C84B7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B995CB-8C9D-D016-4546-BB48E8EF0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2020-F406-4725-B3DF-43FDC076D78B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A30B2C-AF5E-9551-2569-755597632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75B7CB-E51D-F138-46D9-FCD98371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7221-FAD6-4E52-8255-E6230D941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10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02DDA-DCD9-8B27-5EF3-67B91C05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383E68F-9F44-88FC-BDCC-37C8A8BC9D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34D8C4-147B-44A0-32BF-91D3905E4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51F950-5C0A-B9D8-9DF3-B9DD0E262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2020-F406-4725-B3DF-43FDC076D78B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C4FA75-EDBE-4515-7A67-452B2F127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ED70F2-3CDF-4E85-06BD-6737C637E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7221-FAD6-4E52-8255-E6230D941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127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0CE76-A3AC-DA02-E0FC-29D2D3272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78D801-EB9B-AD2B-7685-EB40199CA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14E0E6-4892-18E4-C351-31EC4D3F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2020-F406-4725-B3DF-43FDC076D78B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FEC38F-ADD6-E43E-BFA9-CAF2F36B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C0D851-C7F2-E912-2197-B2C868075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7221-FAD6-4E52-8255-E6230D941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03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BE1570-7F41-0155-7D3E-429B7B9251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5C0B8E-27FC-73B9-EDDF-46CC00FB5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FC198C-4553-22AB-1C0D-6C8D20E53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2020-F406-4725-B3DF-43FDC076D78B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7BF76A-F27F-A092-930C-EB91B771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A8F57-9863-A982-8F05-7859A01C7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7221-FAD6-4E52-8255-E6230D941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607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B1CEAB-A6AD-BC65-B1EE-3C4AAD68F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71E5D4-F69D-7D0A-FA30-FDA53D5FB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540654-70BE-D1A1-AF31-550E751A81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A2020-F406-4725-B3DF-43FDC076D78B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578C4E-25EE-3A7B-B6CF-A6EC140DA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C84811-4037-2506-148C-9B4206115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27221-FAD6-4E52-8255-E6230D941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773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2.png"/><Relationship Id="rId3" Type="http://schemas.openxmlformats.org/officeDocument/2006/relationships/tags" Target="../tags/tag3.xml"/><Relationship Id="rId7" Type="http://schemas.openxmlformats.org/officeDocument/2006/relationships/image" Target="../media/image9.png"/><Relationship Id="rId12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3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1.png"/><Relationship Id="rId4" Type="http://schemas.openxmlformats.org/officeDocument/2006/relationships/tags" Target="../tags/tag4.xm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4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E5464E5-713C-6546-EC92-6BCBFEC811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38" t="3735" r="16908" b="12017"/>
          <a:stretch>
            <a:fillRect/>
          </a:stretch>
        </p:blipFill>
        <p:spPr>
          <a:xfrm>
            <a:off x="3894306" y="-4864"/>
            <a:ext cx="8297694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C02EA5F-0EC5-0E30-D747-E9840F2791D9}"/>
              </a:ext>
            </a:extLst>
          </p:cNvPr>
          <p:cNvSpPr/>
          <p:nvPr/>
        </p:nvSpPr>
        <p:spPr>
          <a:xfrm>
            <a:off x="3894306" y="5527"/>
            <a:ext cx="6485641" cy="6858000"/>
          </a:xfrm>
          <a:prstGeom prst="rect">
            <a:avLst/>
          </a:prstGeom>
          <a:gradFill flip="none" rotWithShape="1">
            <a:gsLst>
              <a:gs pos="0">
                <a:srgbClr val="9F4928">
                  <a:alpha val="0"/>
                </a:srgbClr>
              </a:gs>
              <a:gs pos="100000">
                <a:srgbClr val="9F49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B1B83A-015F-3D2F-CE71-0EF6BFC6651B}"/>
              </a:ext>
            </a:extLst>
          </p:cNvPr>
          <p:cNvSpPr txBox="1"/>
          <p:nvPr/>
        </p:nvSpPr>
        <p:spPr>
          <a:xfrm>
            <a:off x="710119" y="2101175"/>
            <a:ext cx="5729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5400" b="1" spc="1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中医药入境消费</a:t>
            </a:r>
            <a:r>
              <a:rPr lang="zh-CN" altLang="en-US" sz="5400" b="1" spc="1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5400" b="1" spc="100" dirty="0">
              <a:solidFill>
                <a:schemeClr val="bg1">
                  <a:lumMod val="9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577D1A-4B8F-03B0-5FE3-69968F008FFB}"/>
              </a:ext>
            </a:extLst>
          </p:cNvPr>
          <p:cNvSpPr txBox="1"/>
          <p:nvPr/>
        </p:nvSpPr>
        <p:spPr>
          <a:xfrm>
            <a:off x="710119" y="3187165"/>
            <a:ext cx="82976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spc="100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打开道地药材的世界窗口</a:t>
            </a:r>
            <a:endParaRPr lang="en-US" altLang="zh-CN" sz="5400" b="1" spc="100" dirty="0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630A118-3589-7C75-ABC9-38D3B282D75B}"/>
              </a:ext>
            </a:extLst>
          </p:cNvPr>
          <p:cNvSpPr txBox="1"/>
          <p:nvPr/>
        </p:nvSpPr>
        <p:spPr>
          <a:xfrm>
            <a:off x="498240" y="4723573"/>
            <a:ext cx="5450073" cy="406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总台</a:t>
            </a:r>
            <a:r>
              <a:rPr lang="en-US" altLang="zh-CN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CCTV-1</a:t>
            </a:r>
            <a:r>
              <a:rPr lang="en-US" altLang="zh-CN" sz="1800" b="1" kern="1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本草流芳</a:t>
            </a:r>
            <a:r>
              <a:rPr lang="en-US" altLang="zh-CN" sz="1800" b="1" kern="1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制片人、总导演  董鑫</a:t>
            </a:r>
            <a:endParaRPr lang="zh-CN" altLang="zh-CN" sz="1800" b="1" kern="10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4024A88-E77F-9222-2C80-209B1C0EAB3E}"/>
              </a:ext>
            </a:extLst>
          </p:cNvPr>
          <p:cNvCxnSpPr/>
          <p:nvPr/>
        </p:nvCxnSpPr>
        <p:spPr>
          <a:xfrm>
            <a:off x="904371" y="4598537"/>
            <a:ext cx="37937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00989444-3C3D-5ED5-642E-1D361F3004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720" y="345107"/>
            <a:ext cx="2949196" cy="853514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BE4BF68-954C-E118-6F69-0B0815E9D06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9" y="345107"/>
            <a:ext cx="1542536" cy="75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45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>
            <a:extLst>
              <a:ext uri="{FF2B5EF4-FFF2-40B4-BE49-F238E27FC236}">
                <a16:creationId xmlns:a16="http://schemas.microsoft.com/office/drawing/2014/main" id="{24948433-F268-BD42-4327-F236A918F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720" y="345107"/>
            <a:ext cx="2949196" cy="85351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81D0EE9-010E-A669-EF03-57A4E6346FD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77" y="422799"/>
            <a:ext cx="1542536" cy="75958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B1E0E7F-2A3F-76D4-15F7-32038B4BC688}"/>
              </a:ext>
            </a:extLst>
          </p:cNvPr>
          <p:cNvSpPr/>
          <p:nvPr/>
        </p:nvSpPr>
        <p:spPr>
          <a:xfrm>
            <a:off x="0" y="1901757"/>
            <a:ext cx="12192000" cy="3054485"/>
          </a:xfrm>
          <a:prstGeom prst="rect">
            <a:avLst/>
          </a:prstGeom>
          <a:solidFill>
            <a:srgbClr val="9F49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3" descr="图片10">
            <a:extLst>
              <a:ext uri="{FF2B5EF4-FFF2-40B4-BE49-F238E27FC236}">
                <a16:creationId xmlns:a16="http://schemas.microsoft.com/office/drawing/2014/main" id="{A048D730-9B92-B80C-C326-FC9C5E2C4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9235" y="4268401"/>
            <a:ext cx="1795343" cy="179353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7CD3BAB-D740-F5BC-6A7B-98FC1DDE6F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300003"/>
            <a:ext cx="12192000" cy="225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223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C7941-279E-108F-A115-00CE3C01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5EC557E-CC9B-DC0A-B436-B2064C612600}"/>
              </a:ext>
            </a:extLst>
          </p:cNvPr>
          <p:cNvSpPr txBox="1"/>
          <p:nvPr/>
        </p:nvSpPr>
        <p:spPr>
          <a:xfrm>
            <a:off x="2530389" y="405025"/>
            <a:ext cx="94425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spc="100" dirty="0">
                <a:solidFill>
                  <a:srgbClr val="9F49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第一季成绩单</a:t>
            </a:r>
            <a:endParaRPr lang="en-US" altLang="zh-CN" sz="4000" b="1" spc="100" dirty="0">
              <a:solidFill>
                <a:srgbClr val="9F4928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b="1" spc="100" dirty="0">
                <a:solidFill>
                  <a:srgbClr val="9F49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800" b="1" spc="100" dirty="0">
                <a:solidFill>
                  <a:srgbClr val="9F49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800" b="1" spc="100" dirty="0">
                <a:solidFill>
                  <a:srgbClr val="9F49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主任医师：</a:t>
            </a:r>
            <a:r>
              <a:rPr lang="en-US" altLang="zh-CN" sz="2800" b="1" spc="100" dirty="0">
                <a:solidFill>
                  <a:srgbClr val="9F49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800" b="1" spc="100" dirty="0">
                <a:solidFill>
                  <a:srgbClr val="9F49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本草流芳</a:t>
            </a:r>
            <a:r>
              <a:rPr lang="en-US" altLang="zh-CN" sz="2800" b="1" spc="100" dirty="0">
                <a:solidFill>
                  <a:srgbClr val="9F49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800" b="1" spc="100" dirty="0">
                <a:solidFill>
                  <a:srgbClr val="9F49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让药方有了来处和温度</a:t>
            </a:r>
            <a:endParaRPr lang="en-US" altLang="zh-CN" sz="2800" b="1" spc="100" dirty="0">
              <a:solidFill>
                <a:srgbClr val="9F4928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0C2B3FEB-4864-344B-B898-F09E2C664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720" y="345107"/>
            <a:ext cx="2949196" cy="853514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27FDDB0-F033-7BA3-68F1-69E85A6CF4C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77" y="422799"/>
            <a:ext cx="1542536" cy="75958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FA53E47-AAEC-B22D-2835-AABD0605B2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4210"/>
          <a:stretch>
            <a:fillRect/>
          </a:stretch>
        </p:blipFill>
        <p:spPr>
          <a:xfrm>
            <a:off x="499528" y="2382056"/>
            <a:ext cx="1542536" cy="2747481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  <a:scene3d>
            <a:camera prst="isometricOffAxis2Left"/>
            <a:lightRig rig="threePt" dir="t"/>
          </a:scene3d>
        </p:spPr>
      </p:pic>
      <p:sp>
        <p:nvSpPr>
          <p:cNvPr id="4" name="矩形: 对角圆角 3">
            <a:extLst>
              <a:ext uri="{FF2B5EF4-FFF2-40B4-BE49-F238E27FC236}">
                <a16:creationId xmlns:a16="http://schemas.microsoft.com/office/drawing/2014/main" id="{4EF1F725-B478-245B-062C-D21354709859}"/>
              </a:ext>
            </a:extLst>
          </p:cNvPr>
          <p:cNvSpPr/>
          <p:nvPr/>
        </p:nvSpPr>
        <p:spPr>
          <a:xfrm>
            <a:off x="7676513" y="2071830"/>
            <a:ext cx="3385226" cy="992221"/>
          </a:xfrm>
          <a:prstGeom prst="round2Diag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04800" algn="ctr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b="1" kern="1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zh-CN" altLang="en-US" sz="2000" b="1" kern="100" dirty="0">
                <a:solidFill>
                  <a:srgbClr val="36573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极致影像</a:t>
            </a:r>
            <a:r>
              <a:rPr lang="zh-CN" altLang="en-US" sz="2000" b="1" kern="100" dirty="0">
                <a:solidFill>
                  <a:srgbClr val="3657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000" b="1" kern="100" dirty="0">
              <a:solidFill>
                <a:srgbClr val="36573A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 algn="ctr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b="1" kern="1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让看不见的 </a:t>
            </a:r>
            <a:r>
              <a:rPr lang="zh-CN" altLang="en-US" sz="2000" b="1" kern="100" dirty="0">
                <a:solidFill>
                  <a:srgbClr val="36573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被看见</a:t>
            </a:r>
            <a:endParaRPr lang="zh-CN" altLang="zh-CN" sz="2000" b="1" kern="100" dirty="0">
              <a:solidFill>
                <a:srgbClr val="36573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对角圆角 5">
            <a:extLst>
              <a:ext uri="{FF2B5EF4-FFF2-40B4-BE49-F238E27FC236}">
                <a16:creationId xmlns:a16="http://schemas.microsoft.com/office/drawing/2014/main" id="{F60E78D4-8B23-6BD5-5900-249B3E397E0B}"/>
              </a:ext>
            </a:extLst>
          </p:cNvPr>
          <p:cNvSpPr/>
          <p:nvPr/>
        </p:nvSpPr>
        <p:spPr>
          <a:xfrm>
            <a:off x="7676513" y="3356143"/>
            <a:ext cx="3385226" cy="992221"/>
          </a:xfrm>
          <a:prstGeom prst="round2Diag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04800" algn="ctr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zh-CN" sz="2000" b="1" kern="100" dirty="0">
                <a:solidFill>
                  <a:srgbClr val="36573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超高速摄影</a:t>
            </a:r>
            <a:r>
              <a:rPr lang="zh-CN" altLang="zh-CN" b="1" kern="100" dirty="0">
                <a:solidFill>
                  <a:srgbClr val="3657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kern="100" dirty="0">
              <a:solidFill>
                <a:srgbClr val="3657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 algn="ctr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zh-CN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灵芝喷射孢子粉如星河璀璨</a:t>
            </a: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1AB13818-E3E4-7BB4-2F2A-789479C1691A}"/>
              </a:ext>
            </a:extLst>
          </p:cNvPr>
          <p:cNvSpPr/>
          <p:nvPr/>
        </p:nvSpPr>
        <p:spPr>
          <a:xfrm>
            <a:off x="7687053" y="4640456"/>
            <a:ext cx="3385226" cy="992221"/>
          </a:xfrm>
          <a:prstGeom prst="round2Diag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04800" algn="ctr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zh-CN" sz="2000" b="1" kern="100" dirty="0">
                <a:solidFill>
                  <a:srgbClr val="36573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显微摄影：</a:t>
            </a:r>
            <a:endParaRPr lang="en-US" altLang="zh-CN" sz="2000" b="1" kern="100" dirty="0">
              <a:solidFill>
                <a:srgbClr val="36573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 algn="ctr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zh-CN" sz="2000" b="1" kern="100" dirty="0">
              <a:solidFill>
                <a:schemeClr val="accent6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F5176DB-BBA3-A284-5373-6AD5D71AA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513" y="5111865"/>
            <a:ext cx="3395766" cy="49381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047ABC4-50C2-635E-DFC7-3ADF295B1A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587" r="32221"/>
          <a:stretch>
            <a:fillRect/>
          </a:stretch>
        </p:blipFill>
        <p:spPr>
          <a:xfrm>
            <a:off x="5057300" y="2382056"/>
            <a:ext cx="1777188" cy="2747481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  <a:scene3d>
            <a:camera prst="isometricOffAxis1Right"/>
            <a:lightRig rig="threePt" dir="t"/>
          </a:scene3d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F4053E3-8B53-A91C-8B61-BC2522D641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052" r="66623"/>
          <a:stretch>
            <a:fillRect/>
          </a:stretch>
        </p:blipFill>
        <p:spPr>
          <a:xfrm>
            <a:off x="1932107" y="2382056"/>
            <a:ext cx="1692614" cy="2747481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  <a:scene3d>
            <a:camera prst="isometricOffAxis1Right"/>
            <a:lightRig rig="threePt" dir="t"/>
          </a:scene3d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8C3CCC7-0684-39D2-0D34-0D847D02ED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981" r="49694"/>
          <a:stretch>
            <a:fillRect/>
          </a:stretch>
        </p:blipFill>
        <p:spPr>
          <a:xfrm>
            <a:off x="3494099" y="2382056"/>
            <a:ext cx="1692614" cy="2747481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  <a:scene3d>
            <a:camera prst="isometricOffAxis2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980600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06CA9F4-DEF6-F1BF-3B1B-FE44A4CFF3FC}"/>
              </a:ext>
            </a:extLst>
          </p:cNvPr>
          <p:cNvSpPr txBox="1"/>
          <p:nvPr/>
        </p:nvSpPr>
        <p:spPr>
          <a:xfrm>
            <a:off x="2562103" y="360276"/>
            <a:ext cx="10292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spc="100" dirty="0">
                <a:solidFill>
                  <a:srgbClr val="9F49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第一季成绩单</a:t>
            </a:r>
            <a:r>
              <a:rPr lang="en-US" altLang="zh-CN" sz="4000" b="1" spc="100" dirty="0">
                <a:solidFill>
                  <a:srgbClr val="9F49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4000" b="1" spc="100" dirty="0">
                <a:solidFill>
                  <a:srgbClr val="9F49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数据说话</a:t>
            </a:r>
            <a:endParaRPr lang="en-US" altLang="zh-CN" sz="4000" b="1" spc="100" dirty="0">
              <a:solidFill>
                <a:srgbClr val="9F4928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PA_任意多边形 6">
            <a:extLst>
              <a:ext uri="{FF2B5EF4-FFF2-40B4-BE49-F238E27FC236}">
                <a16:creationId xmlns:a16="http://schemas.microsoft.com/office/drawing/2014/main" id="{EC69960B-2AB1-BE32-4469-68ABDA9461B2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4673361" y="1597673"/>
            <a:ext cx="1955708" cy="1960351"/>
          </a:xfrm>
          <a:custGeom>
            <a:avLst/>
            <a:gdLst>
              <a:gd name="T0" fmla="*/ 362 w 725"/>
              <a:gd name="T1" fmla="*/ 0 h 725"/>
              <a:gd name="T2" fmla="*/ 0 w 725"/>
              <a:gd name="T3" fmla="*/ 363 h 725"/>
              <a:gd name="T4" fmla="*/ 362 w 725"/>
              <a:gd name="T5" fmla="*/ 725 h 725"/>
              <a:gd name="T6" fmla="*/ 725 w 725"/>
              <a:gd name="T7" fmla="*/ 363 h 725"/>
              <a:gd name="T8" fmla="*/ 362 w 725"/>
              <a:gd name="T9" fmla="*/ 0 h 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5" h="725">
                <a:moveTo>
                  <a:pt x="362" y="0"/>
                </a:moveTo>
                <a:cubicBezTo>
                  <a:pt x="162" y="0"/>
                  <a:pt x="0" y="162"/>
                  <a:pt x="0" y="363"/>
                </a:cubicBezTo>
                <a:cubicBezTo>
                  <a:pt x="200" y="363"/>
                  <a:pt x="362" y="525"/>
                  <a:pt x="362" y="725"/>
                </a:cubicBezTo>
                <a:cubicBezTo>
                  <a:pt x="563" y="725"/>
                  <a:pt x="725" y="563"/>
                  <a:pt x="725" y="363"/>
                </a:cubicBezTo>
                <a:cubicBezTo>
                  <a:pt x="725" y="162"/>
                  <a:pt x="563" y="0"/>
                  <a:pt x="362" y="0"/>
                </a:cubicBezTo>
                <a:close/>
              </a:path>
            </a:pathLst>
          </a:custGeom>
          <a:solidFill>
            <a:srgbClr val="36573A"/>
          </a:solidFill>
          <a:ln w="25400" cap="flat">
            <a:noFill/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/>
          <a:lstStyle/>
          <a:p>
            <a:pPr defTabSz="1219170"/>
            <a:endParaRPr lang="zh-CN" altLang="en-US" sz="2400">
              <a:solidFill>
                <a:srgbClr val="333333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2" name="PA_任意多边形 7">
            <a:extLst>
              <a:ext uri="{FF2B5EF4-FFF2-40B4-BE49-F238E27FC236}">
                <a16:creationId xmlns:a16="http://schemas.microsoft.com/office/drawing/2014/main" id="{4DB9E978-F3D1-745B-6064-AD9180D1C91E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5649194" y="2579195"/>
            <a:ext cx="1958400" cy="1960351"/>
          </a:xfrm>
          <a:custGeom>
            <a:avLst/>
            <a:gdLst>
              <a:gd name="T0" fmla="*/ 363 w 726"/>
              <a:gd name="T1" fmla="*/ 0 h 725"/>
              <a:gd name="T2" fmla="*/ 0 w 726"/>
              <a:gd name="T3" fmla="*/ 362 h 725"/>
              <a:gd name="T4" fmla="*/ 363 w 726"/>
              <a:gd name="T5" fmla="*/ 725 h 725"/>
              <a:gd name="T6" fmla="*/ 726 w 726"/>
              <a:gd name="T7" fmla="*/ 362 h 725"/>
              <a:gd name="T8" fmla="*/ 363 w 726"/>
              <a:gd name="T9" fmla="*/ 0 h 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6" h="725">
                <a:moveTo>
                  <a:pt x="363" y="0"/>
                </a:moveTo>
                <a:cubicBezTo>
                  <a:pt x="363" y="200"/>
                  <a:pt x="201" y="362"/>
                  <a:pt x="0" y="362"/>
                </a:cubicBezTo>
                <a:cubicBezTo>
                  <a:pt x="0" y="562"/>
                  <a:pt x="163" y="725"/>
                  <a:pt x="363" y="725"/>
                </a:cubicBezTo>
                <a:cubicBezTo>
                  <a:pt x="563" y="725"/>
                  <a:pt x="726" y="562"/>
                  <a:pt x="726" y="362"/>
                </a:cubicBezTo>
                <a:cubicBezTo>
                  <a:pt x="726" y="162"/>
                  <a:pt x="563" y="0"/>
                  <a:pt x="363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5400" cap="flat">
            <a:noFill/>
            <a:prstDash val="solid"/>
            <a:miter lim="800000"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1219170"/>
            <a:endParaRPr lang="zh-CN" altLang="en-US" sz="2400">
              <a:solidFill>
                <a:srgbClr val="333333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3" name="PA_任意多边形 8">
            <a:extLst>
              <a:ext uri="{FF2B5EF4-FFF2-40B4-BE49-F238E27FC236}">
                <a16:creationId xmlns:a16="http://schemas.microsoft.com/office/drawing/2014/main" id="{115B90F4-DCB7-D5E2-4B93-D5937221AA0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693488" y="2579195"/>
            <a:ext cx="1955708" cy="1960351"/>
          </a:xfrm>
          <a:custGeom>
            <a:avLst/>
            <a:gdLst>
              <a:gd name="T0" fmla="*/ 363 w 725"/>
              <a:gd name="T1" fmla="*/ 0 h 725"/>
              <a:gd name="T2" fmla="*/ 0 w 725"/>
              <a:gd name="T3" fmla="*/ 362 h 725"/>
              <a:gd name="T4" fmla="*/ 363 w 725"/>
              <a:gd name="T5" fmla="*/ 725 h 725"/>
              <a:gd name="T6" fmla="*/ 725 w 725"/>
              <a:gd name="T7" fmla="*/ 362 h 725"/>
              <a:gd name="T8" fmla="*/ 363 w 725"/>
              <a:gd name="T9" fmla="*/ 0 h 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5" h="725">
                <a:moveTo>
                  <a:pt x="363" y="0"/>
                </a:moveTo>
                <a:cubicBezTo>
                  <a:pt x="162" y="0"/>
                  <a:pt x="0" y="162"/>
                  <a:pt x="0" y="362"/>
                </a:cubicBezTo>
                <a:cubicBezTo>
                  <a:pt x="0" y="562"/>
                  <a:pt x="162" y="725"/>
                  <a:pt x="363" y="725"/>
                </a:cubicBezTo>
                <a:cubicBezTo>
                  <a:pt x="363" y="525"/>
                  <a:pt x="525" y="362"/>
                  <a:pt x="725" y="362"/>
                </a:cubicBezTo>
                <a:cubicBezTo>
                  <a:pt x="725" y="162"/>
                  <a:pt x="563" y="0"/>
                  <a:pt x="363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5400" cap="flat">
            <a:noFill/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/>
          <a:lstStyle/>
          <a:p>
            <a:pPr defTabSz="1219170"/>
            <a:endParaRPr lang="zh-CN" altLang="en-US" sz="240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4" name="PA_任意多边形 9">
            <a:extLst>
              <a:ext uri="{FF2B5EF4-FFF2-40B4-BE49-F238E27FC236}">
                <a16:creationId xmlns:a16="http://schemas.microsoft.com/office/drawing/2014/main" id="{40D5732A-2601-7EB6-8D43-47BBDEB38FE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673361" y="3558022"/>
            <a:ext cx="1955708" cy="1963043"/>
          </a:xfrm>
          <a:custGeom>
            <a:avLst/>
            <a:gdLst>
              <a:gd name="T0" fmla="*/ 362 w 725"/>
              <a:gd name="T1" fmla="*/ 0 h 726"/>
              <a:gd name="T2" fmla="*/ 0 w 725"/>
              <a:gd name="T3" fmla="*/ 363 h 726"/>
              <a:gd name="T4" fmla="*/ 362 w 725"/>
              <a:gd name="T5" fmla="*/ 726 h 726"/>
              <a:gd name="T6" fmla="*/ 725 w 725"/>
              <a:gd name="T7" fmla="*/ 363 h 726"/>
              <a:gd name="T8" fmla="*/ 362 w 725"/>
              <a:gd name="T9" fmla="*/ 0 h 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5" h="726">
                <a:moveTo>
                  <a:pt x="362" y="0"/>
                </a:moveTo>
                <a:cubicBezTo>
                  <a:pt x="162" y="0"/>
                  <a:pt x="0" y="163"/>
                  <a:pt x="0" y="363"/>
                </a:cubicBezTo>
                <a:cubicBezTo>
                  <a:pt x="0" y="563"/>
                  <a:pt x="162" y="726"/>
                  <a:pt x="362" y="726"/>
                </a:cubicBezTo>
                <a:cubicBezTo>
                  <a:pt x="563" y="726"/>
                  <a:pt x="725" y="563"/>
                  <a:pt x="725" y="363"/>
                </a:cubicBezTo>
                <a:cubicBezTo>
                  <a:pt x="525" y="363"/>
                  <a:pt x="362" y="200"/>
                  <a:pt x="362" y="0"/>
                </a:cubicBezTo>
                <a:close/>
              </a:path>
            </a:pathLst>
          </a:custGeom>
          <a:solidFill>
            <a:srgbClr val="36573A"/>
          </a:solidFill>
          <a:ln w="25400" cap="flat">
            <a:noFill/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/>
          <a:lstStyle/>
          <a:p>
            <a:pPr defTabSz="1219170"/>
            <a:endParaRPr lang="zh-CN" altLang="en-US" sz="2400">
              <a:solidFill>
                <a:schemeClr val="accent2">
                  <a:lumMod val="60000"/>
                  <a:lumOff val="40000"/>
                </a:scheme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9587B70-84D7-F0B1-05D9-F11F39CBB5BB}"/>
              </a:ext>
            </a:extLst>
          </p:cNvPr>
          <p:cNvSpPr txBox="1"/>
          <p:nvPr/>
        </p:nvSpPr>
        <p:spPr>
          <a:xfrm>
            <a:off x="17290" y="1891518"/>
            <a:ext cx="3572867" cy="50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电视端触达：</a:t>
            </a:r>
            <a:r>
              <a:rPr lang="en-US" altLang="zh-CN" sz="2400" b="1" kern="100" dirty="0">
                <a:solidFill>
                  <a:srgbClr val="36573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3.61</a:t>
            </a:r>
            <a:r>
              <a:rPr lang="zh-CN" altLang="zh-CN" sz="2400" b="1" kern="100" dirty="0">
                <a:solidFill>
                  <a:srgbClr val="36573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亿</a:t>
            </a:r>
            <a:r>
              <a:rPr lang="en-US" altLang="zh-CN" sz="2400" b="1" kern="100" dirty="0">
                <a:solidFill>
                  <a:srgbClr val="36573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人次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BB595AA-774A-ACB9-1517-167F3FCAFF53}"/>
              </a:ext>
            </a:extLst>
          </p:cNvPr>
          <p:cNvSpPr txBox="1"/>
          <p:nvPr/>
        </p:nvSpPr>
        <p:spPr>
          <a:xfrm>
            <a:off x="17290" y="2414608"/>
            <a:ext cx="6181923" cy="1262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平均收视率：</a:t>
            </a:r>
            <a:r>
              <a:rPr lang="en-US" altLang="zh-CN" sz="2400" b="1" kern="100" dirty="0">
                <a:solidFill>
                  <a:srgbClr val="36573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0.84%</a:t>
            </a:r>
          </a:p>
          <a:p>
            <a:pPr indent="30480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平均收视份额 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5.40%</a:t>
            </a:r>
          </a:p>
          <a:p>
            <a:pPr indent="30480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全国上星频道同时段 </a:t>
            </a:r>
            <a:r>
              <a:rPr lang="zh-CN" altLang="en-US" sz="2400" b="1" kern="100" dirty="0">
                <a:solidFill>
                  <a:srgbClr val="3657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endParaRPr lang="zh-CN" altLang="zh-CN" sz="18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3F048DF-2A9D-60BE-F3D2-9F4AA9EB5DAA}"/>
              </a:ext>
            </a:extLst>
          </p:cNvPr>
          <p:cNvSpPr txBox="1"/>
          <p:nvPr/>
        </p:nvSpPr>
        <p:spPr>
          <a:xfrm>
            <a:off x="0" y="4632291"/>
            <a:ext cx="4748531" cy="88537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indent="30480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最高单集收视</a:t>
            </a:r>
            <a:r>
              <a:rPr lang="zh-CN" altLang="en-US" sz="1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b="1" kern="100" dirty="0">
                <a:solidFill>
                  <a:srgbClr val="3657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1.19%</a:t>
            </a:r>
          </a:p>
          <a:p>
            <a:pPr indent="30480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创央视综合频道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2007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年来同时段 </a:t>
            </a:r>
            <a:r>
              <a:rPr lang="zh-CN" altLang="en-US" sz="2400" b="1" kern="100" dirty="0">
                <a:solidFill>
                  <a:srgbClr val="3657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新高</a:t>
            </a:r>
            <a:endParaRPr lang="zh-CN" altLang="zh-CN" sz="2400" b="1" kern="100" dirty="0">
              <a:solidFill>
                <a:srgbClr val="3657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8CFA266-9759-22FE-A697-B9ADB7B57FD7}"/>
              </a:ext>
            </a:extLst>
          </p:cNvPr>
          <p:cNvSpPr txBox="1"/>
          <p:nvPr/>
        </p:nvSpPr>
        <p:spPr>
          <a:xfrm>
            <a:off x="39335" y="3680671"/>
            <a:ext cx="4074726" cy="885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微博话题阅读：</a:t>
            </a:r>
            <a:r>
              <a:rPr lang="en-US" altLang="zh-CN" sz="2400" b="1" kern="100" dirty="0">
                <a:solidFill>
                  <a:srgbClr val="3657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4.26</a:t>
            </a:r>
            <a:r>
              <a:rPr lang="zh-CN" altLang="en-US" sz="2400" b="1" kern="100" dirty="0">
                <a:solidFill>
                  <a:srgbClr val="3657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亿 </a:t>
            </a: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en-US" altLang="zh-CN" sz="18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登全网 </a:t>
            </a:r>
            <a:r>
              <a:rPr lang="zh-CN" altLang="en-US" sz="2400" b="1" kern="100" dirty="0">
                <a:solidFill>
                  <a:srgbClr val="3657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热搜</a:t>
            </a:r>
            <a:r>
              <a:rPr lang="en-US" altLang="zh-CN" sz="2400" b="1" kern="100" dirty="0">
                <a:solidFill>
                  <a:srgbClr val="3657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200+</a:t>
            </a:r>
            <a:r>
              <a:rPr lang="en-US" altLang="zh-CN" sz="2400" b="1" kern="100" dirty="0">
                <a:solidFill>
                  <a:srgbClr val="3657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zh-CN" altLang="zh-CN" sz="18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7896B1-978E-430C-46E1-0B63DCF1E54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3029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5054" t="46268" r="9043" b="9005"/>
          <a:stretch>
            <a:fillRect/>
          </a:stretch>
        </p:blipFill>
        <p:spPr>
          <a:xfrm>
            <a:off x="6253615" y="3488166"/>
            <a:ext cx="953696" cy="9246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6832377-D401-67A6-3378-E172A126C74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7" t="47142" r="64332" b="10170"/>
          <a:stretch>
            <a:fillRect/>
          </a:stretch>
        </p:blipFill>
        <p:spPr>
          <a:xfrm flipH="1">
            <a:off x="3781202" y="2744664"/>
            <a:ext cx="987599" cy="9742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67A858-6281-409D-26DF-E9FF587A0AE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615" y="3106375"/>
            <a:ext cx="2505499" cy="1010991"/>
          </a:xfrm>
          <a:prstGeom prst="rect">
            <a:avLst/>
          </a:prstGeom>
          <a:ln>
            <a:noFill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EC682E2-FA62-CCBE-655A-B07B9E2D621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720" y="345107"/>
            <a:ext cx="2949196" cy="853514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47326AF-A38D-729A-1680-0A50EA6B5039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77" y="422799"/>
            <a:ext cx="1542536" cy="75958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B1868DD-593A-5B70-88C3-A71449B0737F}"/>
              </a:ext>
            </a:extLst>
          </p:cNvPr>
          <p:cNvSpPr txBox="1"/>
          <p:nvPr/>
        </p:nvSpPr>
        <p:spPr>
          <a:xfrm>
            <a:off x="7661996" y="1890778"/>
            <a:ext cx="4461674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荣获</a:t>
            </a:r>
            <a:r>
              <a:rPr lang="en-US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年度中央广播电视总台优秀作品纪录片 </a:t>
            </a:r>
            <a:r>
              <a:rPr lang="zh-CN" altLang="en-US" sz="2400" b="1" kern="100" dirty="0">
                <a:solidFill>
                  <a:srgbClr val="3657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一等奖</a:t>
            </a:r>
            <a:endParaRPr lang="en-US" altLang="zh-CN" sz="2400" b="1" kern="100" dirty="0">
              <a:solidFill>
                <a:srgbClr val="3657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054351-2794-BDDD-1CC5-172F8E2228E7}"/>
              </a:ext>
            </a:extLst>
          </p:cNvPr>
          <p:cNvSpPr txBox="1"/>
          <p:nvPr/>
        </p:nvSpPr>
        <p:spPr>
          <a:xfrm>
            <a:off x="7375138" y="3655177"/>
            <a:ext cx="4748531" cy="13460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indent="30480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最高单集收视</a:t>
            </a:r>
            <a:r>
              <a:rPr lang="zh-CN" altLang="en-US" sz="1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b="1" kern="100" dirty="0">
                <a:solidFill>
                  <a:srgbClr val="3657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1.19%</a:t>
            </a:r>
          </a:p>
          <a:p>
            <a:pPr indent="30480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创央视综合频道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2007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年来同时段 </a:t>
            </a:r>
            <a:r>
              <a:rPr lang="zh-CN" altLang="en-US" sz="2400" b="1" kern="100" dirty="0">
                <a:solidFill>
                  <a:srgbClr val="3657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新高</a:t>
            </a:r>
            <a:endParaRPr lang="en-US" altLang="zh-CN" sz="2400" b="1" kern="100" dirty="0">
              <a:solidFill>
                <a:srgbClr val="3657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全网完整视频播放量达 </a:t>
            </a:r>
            <a:r>
              <a:rPr lang="en-US" altLang="zh-CN" sz="2400" b="1" kern="100" dirty="0">
                <a:solidFill>
                  <a:srgbClr val="3657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6131</a:t>
            </a:r>
            <a:r>
              <a:rPr lang="zh-CN" altLang="en-US" sz="2400" b="1" kern="100" dirty="0">
                <a:solidFill>
                  <a:srgbClr val="3657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万次</a:t>
            </a:r>
            <a:endParaRPr lang="zh-CN" altLang="zh-CN" sz="2400" b="1" kern="100" dirty="0">
              <a:solidFill>
                <a:srgbClr val="3657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B5A425-9CC6-F999-349E-7AC52DFEF64C}"/>
              </a:ext>
            </a:extLst>
          </p:cNvPr>
          <p:cNvSpPr txBox="1"/>
          <p:nvPr/>
        </p:nvSpPr>
        <p:spPr>
          <a:xfrm>
            <a:off x="7661996" y="2658301"/>
            <a:ext cx="6427076" cy="996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全国优秀纪录片奖优秀系列</a:t>
            </a:r>
            <a:r>
              <a:rPr lang="zh-CN" altLang="en-US" sz="2400" b="1" kern="100" dirty="0">
                <a:solidFill>
                  <a:srgbClr val="3657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短片奖</a:t>
            </a:r>
            <a:endParaRPr lang="en-US" altLang="zh-CN" sz="2400" b="1" kern="100" dirty="0">
              <a:solidFill>
                <a:srgbClr val="3657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获评“</a:t>
            </a:r>
            <a:r>
              <a:rPr lang="en-US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年度中国影响力十大纪录片”</a:t>
            </a:r>
            <a:endParaRPr lang="en-US" altLang="zh-CN" sz="18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11A7A69-D996-77E9-3AF5-89A3571E65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05542" y="5515978"/>
            <a:ext cx="7443861" cy="182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87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 autoUpdateAnimBg="0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9F084-10C3-8BF2-D9AA-DD05538B7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6D95847A-6BBA-9359-AE49-0E086CEBC8A6}"/>
              </a:ext>
            </a:extLst>
          </p:cNvPr>
          <p:cNvSpPr/>
          <p:nvPr/>
        </p:nvSpPr>
        <p:spPr>
          <a:xfrm>
            <a:off x="7858848" y="1400019"/>
            <a:ext cx="3780375" cy="4428842"/>
          </a:xfrm>
          <a:custGeom>
            <a:avLst/>
            <a:gdLst>
              <a:gd name="connsiteX0" fmla="*/ 1329182 w 3780375"/>
              <a:gd name="connsiteY0" fmla="*/ 0 h 4428842"/>
              <a:gd name="connsiteX1" fmla="*/ 1354274 w 3780375"/>
              <a:gd name="connsiteY1" fmla="*/ 15559 h 4428842"/>
              <a:gd name="connsiteX2" fmla="*/ 3780375 w 3780375"/>
              <a:gd name="connsiteY2" fmla="*/ 4428842 h 4428842"/>
              <a:gd name="connsiteX3" fmla="*/ 1335658 w 3780375"/>
              <a:gd name="connsiteY3" fmla="*/ 4428842 h 4428842"/>
              <a:gd name="connsiteX4" fmla="*/ 222825 w 3780375"/>
              <a:gd name="connsiteY4" fmla="*/ 2208407 h 4428842"/>
              <a:gd name="connsiteX5" fmla="*/ 0 w 3780375"/>
              <a:gd name="connsiteY5" fmla="*/ 2051615 h 4428842"/>
              <a:gd name="connsiteX6" fmla="*/ 1329182 w 3780375"/>
              <a:gd name="connsiteY6" fmla="*/ 0 h 4428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80375" h="4428842">
                <a:moveTo>
                  <a:pt x="1329182" y="0"/>
                </a:moveTo>
                <a:lnTo>
                  <a:pt x="1354274" y="15559"/>
                </a:lnTo>
                <a:cubicBezTo>
                  <a:pt x="2818009" y="972003"/>
                  <a:pt x="3780375" y="2591723"/>
                  <a:pt x="3780375" y="4428842"/>
                </a:cubicBezTo>
                <a:lnTo>
                  <a:pt x="1335658" y="4428842"/>
                </a:lnTo>
                <a:cubicBezTo>
                  <a:pt x="1335658" y="3534911"/>
                  <a:pt x="902460" y="2736187"/>
                  <a:pt x="222825" y="2208407"/>
                </a:cubicBezTo>
                <a:lnTo>
                  <a:pt x="0" y="2051615"/>
                </a:lnTo>
                <a:lnTo>
                  <a:pt x="1329182" y="0"/>
                </a:lnTo>
                <a:close/>
              </a:path>
            </a:pathLst>
          </a:custGeom>
          <a:gradFill>
            <a:gsLst>
              <a:gs pos="0">
                <a:srgbClr val="FBE5D6"/>
              </a:gs>
              <a:gs pos="100000">
                <a:srgbClr val="36573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622F4838-16AF-D5B5-A47A-9F678DC0B1F2}"/>
              </a:ext>
            </a:extLst>
          </p:cNvPr>
          <p:cNvSpPr/>
          <p:nvPr/>
        </p:nvSpPr>
        <p:spPr>
          <a:xfrm>
            <a:off x="660677" y="1351245"/>
            <a:ext cx="3844095" cy="4477616"/>
          </a:xfrm>
          <a:custGeom>
            <a:avLst/>
            <a:gdLst>
              <a:gd name="connsiteX0" fmla="*/ 2529854 w 3844095"/>
              <a:gd name="connsiteY0" fmla="*/ 0 h 4477616"/>
              <a:gd name="connsiteX1" fmla="*/ 3844095 w 3844095"/>
              <a:gd name="connsiteY1" fmla="*/ 2062302 h 4477616"/>
              <a:gd name="connsiteX2" fmla="*/ 3792966 w 3844095"/>
              <a:gd name="connsiteY2" fmla="*/ 2091530 h 4477616"/>
              <a:gd name="connsiteX3" fmla="*/ 2444717 w 3844095"/>
              <a:gd name="connsiteY3" fmla="*/ 4477616 h 4477616"/>
              <a:gd name="connsiteX4" fmla="*/ 0 w 3844095"/>
              <a:gd name="connsiteY4" fmla="*/ 4477616 h 4477616"/>
              <a:gd name="connsiteX5" fmla="*/ 2426101 w 3844095"/>
              <a:gd name="connsiteY5" fmla="*/ 64333 h 4477616"/>
              <a:gd name="connsiteX6" fmla="*/ 2529854 w 3844095"/>
              <a:gd name="connsiteY6" fmla="*/ 0 h 44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44095" h="4477616">
                <a:moveTo>
                  <a:pt x="2529854" y="0"/>
                </a:moveTo>
                <a:lnTo>
                  <a:pt x="3844095" y="2062302"/>
                </a:lnTo>
                <a:lnTo>
                  <a:pt x="3792966" y="2091530"/>
                </a:lnTo>
                <a:cubicBezTo>
                  <a:pt x="2979529" y="2608642"/>
                  <a:pt x="2444717" y="3484359"/>
                  <a:pt x="2444717" y="4477616"/>
                </a:cubicBezTo>
                <a:lnTo>
                  <a:pt x="0" y="4477616"/>
                </a:lnTo>
                <a:cubicBezTo>
                  <a:pt x="0" y="2640497"/>
                  <a:pt x="962366" y="1020777"/>
                  <a:pt x="2426101" y="64333"/>
                </a:cubicBezTo>
                <a:lnTo>
                  <a:pt x="2529854" y="0"/>
                </a:lnTo>
                <a:close/>
              </a:path>
            </a:pathLst>
          </a:custGeom>
          <a:gradFill>
            <a:gsLst>
              <a:gs pos="0">
                <a:srgbClr val="DEE3C8">
                  <a:alpha val="40000"/>
                </a:srgbClr>
              </a:gs>
              <a:gs pos="100000">
                <a:srgbClr val="36573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79659F3B-C7BA-0B5F-4112-3072CDA05E8D}"/>
              </a:ext>
            </a:extLst>
          </p:cNvPr>
          <p:cNvSpPr/>
          <p:nvPr/>
        </p:nvSpPr>
        <p:spPr>
          <a:xfrm>
            <a:off x="3311541" y="445172"/>
            <a:ext cx="5760969" cy="2860044"/>
          </a:xfrm>
          <a:custGeom>
            <a:avLst/>
            <a:gdLst>
              <a:gd name="connsiteX0" fmla="*/ 2852667 w 5760969"/>
              <a:gd name="connsiteY0" fmla="*/ 0 h 2860044"/>
              <a:gd name="connsiteX1" fmla="*/ 5706032 w 5760969"/>
              <a:gd name="connsiteY1" fmla="*/ 770518 h 2860044"/>
              <a:gd name="connsiteX2" fmla="*/ 5760969 w 5760969"/>
              <a:gd name="connsiteY2" fmla="*/ 804583 h 2860044"/>
              <a:gd name="connsiteX3" fmla="*/ 4429295 w 5760969"/>
              <a:gd name="connsiteY3" fmla="*/ 2860044 h 2860044"/>
              <a:gd name="connsiteX4" fmla="*/ 4310297 w 5760969"/>
              <a:gd name="connsiteY4" fmla="*/ 2792018 h 2860044"/>
              <a:gd name="connsiteX5" fmla="*/ 2852667 w 5760969"/>
              <a:gd name="connsiteY5" fmla="*/ 2444717 h 2860044"/>
              <a:gd name="connsiteX6" fmla="*/ 1395037 w 5760969"/>
              <a:gd name="connsiteY6" fmla="*/ 2792018 h 2860044"/>
              <a:gd name="connsiteX7" fmla="*/ 1316939 w 5760969"/>
              <a:gd name="connsiteY7" fmla="*/ 2836664 h 2860044"/>
              <a:gd name="connsiteX8" fmla="*/ 0 w 5760969"/>
              <a:gd name="connsiteY8" fmla="*/ 770130 h 2860044"/>
              <a:gd name="connsiteX9" fmla="*/ 229740 w 5760969"/>
              <a:gd name="connsiteY9" fmla="*/ 642365 h 2860044"/>
              <a:gd name="connsiteX10" fmla="*/ 2852667 w 5760969"/>
              <a:gd name="connsiteY10" fmla="*/ 0 h 286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60969" h="2860044">
                <a:moveTo>
                  <a:pt x="2852667" y="0"/>
                </a:moveTo>
                <a:cubicBezTo>
                  <a:pt x="3897349" y="0"/>
                  <a:pt x="4874036" y="281567"/>
                  <a:pt x="5706032" y="770518"/>
                </a:cubicBezTo>
                <a:lnTo>
                  <a:pt x="5760969" y="804583"/>
                </a:lnTo>
                <a:lnTo>
                  <a:pt x="4429295" y="2860044"/>
                </a:lnTo>
                <a:lnTo>
                  <a:pt x="4310297" y="2792018"/>
                </a:lnTo>
                <a:cubicBezTo>
                  <a:pt x="3876997" y="2570529"/>
                  <a:pt x="3380446" y="2444717"/>
                  <a:pt x="2852667" y="2444717"/>
                </a:cubicBezTo>
                <a:cubicBezTo>
                  <a:pt x="2324888" y="2444717"/>
                  <a:pt x="1828337" y="2570529"/>
                  <a:pt x="1395037" y="2792018"/>
                </a:cubicBezTo>
                <a:lnTo>
                  <a:pt x="1316939" y="2836664"/>
                </a:lnTo>
                <a:lnTo>
                  <a:pt x="0" y="770130"/>
                </a:lnTo>
                <a:lnTo>
                  <a:pt x="229740" y="642365"/>
                </a:lnTo>
                <a:cubicBezTo>
                  <a:pt x="1009440" y="232700"/>
                  <a:pt x="1902957" y="0"/>
                  <a:pt x="2852667" y="0"/>
                </a:cubicBezTo>
                <a:close/>
              </a:path>
            </a:pathLst>
          </a:custGeom>
          <a:gradFill>
            <a:gsLst>
              <a:gs pos="0">
                <a:srgbClr val="FBE5D6"/>
              </a:gs>
              <a:gs pos="100000">
                <a:srgbClr val="36573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7B286E-38FD-D494-C007-3F38244C9C24}"/>
              </a:ext>
            </a:extLst>
          </p:cNvPr>
          <p:cNvSpPr txBox="1"/>
          <p:nvPr/>
        </p:nvSpPr>
        <p:spPr>
          <a:xfrm>
            <a:off x="2650733" y="405024"/>
            <a:ext cx="10292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spc="100" dirty="0">
                <a:solidFill>
                  <a:srgbClr val="9F49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第一季成绩单</a:t>
            </a:r>
            <a:r>
              <a:rPr lang="en-US" altLang="zh-CN" sz="4000" b="1" spc="100" dirty="0">
                <a:solidFill>
                  <a:srgbClr val="9F49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4000" b="1" spc="100" dirty="0">
                <a:solidFill>
                  <a:srgbClr val="9F49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市场验证</a:t>
            </a:r>
            <a:endParaRPr lang="en-US" altLang="zh-CN" sz="4000" b="1" spc="100" dirty="0">
              <a:solidFill>
                <a:srgbClr val="9F4928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4698615F-3FCF-C9CB-D238-645E55A2367F}"/>
              </a:ext>
            </a:extLst>
          </p:cNvPr>
          <p:cNvSpPr/>
          <p:nvPr/>
        </p:nvSpPr>
        <p:spPr>
          <a:xfrm>
            <a:off x="4629334" y="2933261"/>
            <a:ext cx="3125385" cy="1740212"/>
          </a:xfrm>
          <a:custGeom>
            <a:avLst/>
            <a:gdLst>
              <a:gd name="connsiteX0" fmla="*/ 1528628 w 3125385"/>
              <a:gd name="connsiteY0" fmla="*/ 0 h 1740212"/>
              <a:gd name="connsiteX1" fmla="*/ 2923633 w 3125385"/>
              <a:gd name="connsiteY1" fmla="*/ 329696 h 1740212"/>
              <a:gd name="connsiteX2" fmla="*/ 3125385 w 3125385"/>
              <a:gd name="connsiteY2" fmla="*/ 442906 h 1740212"/>
              <a:gd name="connsiteX3" fmla="*/ 2283121 w 3125385"/>
              <a:gd name="connsiteY3" fmla="*/ 1740212 h 1740212"/>
              <a:gd name="connsiteX4" fmla="*/ 2185908 w 3125385"/>
              <a:gd name="connsiteY4" fmla="*/ 1689998 h 1740212"/>
              <a:gd name="connsiteX5" fmla="*/ 1528630 w 3125385"/>
              <a:gd name="connsiteY5" fmla="*/ 1545623 h 1740212"/>
              <a:gd name="connsiteX6" fmla="*/ 871353 w 3125385"/>
              <a:gd name="connsiteY6" fmla="*/ 1689998 h 1740212"/>
              <a:gd name="connsiteX7" fmla="*/ 824333 w 3125385"/>
              <a:gd name="connsiteY7" fmla="*/ 1714286 h 1740212"/>
              <a:gd name="connsiteX8" fmla="*/ 0 w 3125385"/>
              <a:gd name="connsiteY8" fmla="*/ 404677 h 1740212"/>
              <a:gd name="connsiteX9" fmla="*/ 133623 w 3125385"/>
              <a:gd name="connsiteY9" fmla="*/ 329696 h 1740212"/>
              <a:gd name="connsiteX10" fmla="*/ 1528628 w 3125385"/>
              <a:gd name="connsiteY10" fmla="*/ 0 h 1740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25385" h="1740212">
                <a:moveTo>
                  <a:pt x="1528628" y="0"/>
                </a:moveTo>
                <a:cubicBezTo>
                  <a:pt x="2030382" y="0"/>
                  <a:pt x="2504303" y="118790"/>
                  <a:pt x="2923633" y="329696"/>
                </a:cubicBezTo>
                <a:lnTo>
                  <a:pt x="3125385" y="442906"/>
                </a:lnTo>
                <a:lnTo>
                  <a:pt x="2283121" y="1740212"/>
                </a:lnTo>
                <a:lnTo>
                  <a:pt x="2185908" y="1689998"/>
                </a:lnTo>
                <a:cubicBezTo>
                  <a:pt x="1986251" y="1597363"/>
                  <a:pt x="1763521" y="1545623"/>
                  <a:pt x="1528630" y="1545623"/>
                </a:cubicBezTo>
                <a:cubicBezTo>
                  <a:pt x="1293740" y="1545623"/>
                  <a:pt x="1071010" y="1597363"/>
                  <a:pt x="871353" y="1689998"/>
                </a:cubicBezTo>
                <a:lnTo>
                  <a:pt x="824333" y="1714286"/>
                </a:lnTo>
                <a:lnTo>
                  <a:pt x="0" y="404677"/>
                </a:lnTo>
                <a:lnTo>
                  <a:pt x="133623" y="329696"/>
                </a:lnTo>
                <a:cubicBezTo>
                  <a:pt x="552954" y="118790"/>
                  <a:pt x="1026875" y="0"/>
                  <a:pt x="1528628" y="0"/>
                </a:cubicBezTo>
                <a:close/>
              </a:path>
            </a:pathLst>
          </a:custGeom>
          <a:gradFill>
            <a:gsLst>
              <a:gs pos="0">
                <a:srgbClr val="FBE5D6"/>
              </a:gs>
              <a:gs pos="100000">
                <a:srgbClr val="36573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ru-RU" altLang="zh-CN" b="1" dirty="0">
              <a:solidFill>
                <a:schemeClr val="bg1"/>
              </a:solidFill>
              <a:latin typeface="+mj-ea"/>
              <a:cs typeface="+mn-ea"/>
              <a:sym typeface="+mn-lt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D0B0D72F-0A95-BEC5-B61A-4F88CCE2B385}"/>
              </a:ext>
            </a:extLst>
          </p:cNvPr>
          <p:cNvSpPr/>
          <p:nvPr/>
        </p:nvSpPr>
        <p:spPr>
          <a:xfrm>
            <a:off x="3066843" y="3408359"/>
            <a:ext cx="2263481" cy="2420502"/>
          </a:xfrm>
          <a:custGeom>
            <a:avLst/>
            <a:gdLst>
              <a:gd name="connsiteX0" fmla="*/ 1439603 w 2263481"/>
              <a:gd name="connsiteY0" fmla="*/ 0 h 2420502"/>
              <a:gd name="connsiteX1" fmla="*/ 2263481 w 2263481"/>
              <a:gd name="connsiteY1" fmla="*/ 1308886 h 2420502"/>
              <a:gd name="connsiteX2" fmla="*/ 2206029 w 2263481"/>
              <a:gd name="connsiteY2" fmla="*/ 1345000 h 2420502"/>
              <a:gd name="connsiteX3" fmla="*/ 1567313 w 2263481"/>
              <a:gd name="connsiteY3" fmla="*/ 2304654 h 2420502"/>
              <a:gd name="connsiteX4" fmla="*/ 1555563 w 2263481"/>
              <a:gd name="connsiteY4" fmla="*/ 2420502 h 2420502"/>
              <a:gd name="connsiteX5" fmla="*/ 0 w 2263481"/>
              <a:gd name="connsiteY5" fmla="*/ 2420502 h 2420502"/>
              <a:gd name="connsiteX6" fmla="*/ 6098 w 2263481"/>
              <a:gd name="connsiteY6" fmla="*/ 2300089 h 2420502"/>
              <a:gd name="connsiteX7" fmla="*/ 1220833 w 2263481"/>
              <a:gd name="connsiteY7" fmla="*/ 150194 h 2420502"/>
              <a:gd name="connsiteX8" fmla="*/ 1439603 w 2263481"/>
              <a:gd name="connsiteY8" fmla="*/ 0 h 242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3481" h="2420502">
                <a:moveTo>
                  <a:pt x="1439603" y="0"/>
                </a:moveTo>
                <a:lnTo>
                  <a:pt x="2263481" y="1308886"/>
                </a:lnTo>
                <a:lnTo>
                  <a:pt x="2206029" y="1345000"/>
                </a:lnTo>
                <a:cubicBezTo>
                  <a:pt x="1883015" y="1567513"/>
                  <a:pt x="1648897" y="1908476"/>
                  <a:pt x="1567313" y="2304654"/>
                </a:cubicBezTo>
                <a:lnTo>
                  <a:pt x="1555563" y="2420502"/>
                </a:lnTo>
                <a:lnTo>
                  <a:pt x="0" y="2420502"/>
                </a:lnTo>
                <a:lnTo>
                  <a:pt x="6098" y="2300089"/>
                </a:lnTo>
                <a:cubicBezTo>
                  <a:pt x="95425" y="1423275"/>
                  <a:pt x="552354" y="654791"/>
                  <a:pt x="1220833" y="150194"/>
                </a:cubicBezTo>
                <a:lnTo>
                  <a:pt x="1439603" y="0"/>
                </a:lnTo>
                <a:close/>
              </a:path>
            </a:pathLst>
          </a:custGeom>
          <a:gradFill flip="none" rotWithShape="1">
            <a:gsLst>
              <a:gs pos="0">
                <a:srgbClr val="FBE5D6"/>
              </a:gs>
              <a:gs pos="100000">
                <a:srgbClr val="36573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44E36284-B363-C584-FB3B-64E0430EF983}"/>
              </a:ext>
            </a:extLst>
          </p:cNvPr>
          <p:cNvSpPr/>
          <p:nvPr/>
        </p:nvSpPr>
        <p:spPr>
          <a:xfrm>
            <a:off x="7033296" y="3452553"/>
            <a:ext cx="2215786" cy="2376309"/>
          </a:xfrm>
          <a:custGeom>
            <a:avLst/>
            <a:gdLst>
              <a:gd name="connsiteX0" fmla="*/ 840553 w 2215786"/>
              <a:gd name="connsiteY0" fmla="*/ 0 h 2376309"/>
              <a:gd name="connsiteX1" fmla="*/ 994951 w 2215786"/>
              <a:gd name="connsiteY1" fmla="*/ 106001 h 2376309"/>
              <a:gd name="connsiteX2" fmla="*/ 2209686 w 2215786"/>
              <a:gd name="connsiteY2" fmla="*/ 2255896 h 2376309"/>
              <a:gd name="connsiteX3" fmla="*/ 2215786 w 2215786"/>
              <a:gd name="connsiteY3" fmla="*/ 2376309 h 2376309"/>
              <a:gd name="connsiteX4" fmla="*/ 660227 w 2215786"/>
              <a:gd name="connsiteY4" fmla="*/ 2376309 h 2376309"/>
              <a:gd name="connsiteX5" fmla="*/ 648475 w 2215786"/>
              <a:gd name="connsiteY5" fmla="*/ 2260461 h 2376309"/>
              <a:gd name="connsiteX6" fmla="*/ 9760 w 2215786"/>
              <a:gd name="connsiteY6" fmla="*/ 1300807 h 2376309"/>
              <a:gd name="connsiteX7" fmla="*/ 0 w 2215786"/>
              <a:gd name="connsiteY7" fmla="*/ 1294672 h 2376309"/>
              <a:gd name="connsiteX8" fmla="*/ 840553 w 2215786"/>
              <a:gd name="connsiteY8" fmla="*/ 0 h 2376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5786" h="2376309">
                <a:moveTo>
                  <a:pt x="840553" y="0"/>
                </a:moveTo>
                <a:lnTo>
                  <a:pt x="994951" y="106001"/>
                </a:lnTo>
                <a:cubicBezTo>
                  <a:pt x="1663430" y="610598"/>
                  <a:pt x="2120359" y="1379082"/>
                  <a:pt x="2209686" y="2255896"/>
                </a:cubicBezTo>
                <a:lnTo>
                  <a:pt x="2215786" y="2376309"/>
                </a:lnTo>
                <a:lnTo>
                  <a:pt x="660227" y="2376309"/>
                </a:lnTo>
                <a:lnTo>
                  <a:pt x="648475" y="2260461"/>
                </a:lnTo>
                <a:cubicBezTo>
                  <a:pt x="566893" y="1864283"/>
                  <a:pt x="332776" y="1523320"/>
                  <a:pt x="9760" y="1300807"/>
                </a:cubicBezTo>
                <a:lnTo>
                  <a:pt x="0" y="1294672"/>
                </a:lnTo>
                <a:lnTo>
                  <a:pt x="840553" y="0"/>
                </a:lnTo>
                <a:close/>
              </a:path>
            </a:pathLst>
          </a:custGeom>
          <a:gradFill>
            <a:gsLst>
              <a:gs pos="0">
                <a:srgbClr val="FBE5D6"/>
              </a:gs>
              <a:gs pos="100000">
                <a:srgbClr val="36573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" name="TextBox 18">
            <a:extLst>
              <a:ext uri="{FF2B5EF4-FFF2-40B4-BE49-F238E27FC236}">
                <a16:creationId xmlns:a16="http://schemas.microsoft.com/office/drawing/2014/main" id="{71760EF8-01B5-813C-9389-B81BB8E49876}"/>
              </a:ext>
            </a:extLst>
          </p:cNvPr>
          <p:cNvSpPr txBox="1"/>
          <p:nvPr/>
        </p:nvSpPr>
        <p:spPr>
          <a:xfrm>
            <a:off x="3723941" y="4432044"/>
            <a:ext cx="12338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宁夏枸杞</a:t>
            </a:r>
            <a:endParaRPr lang="ru-RU" altLang="zh-CN" sz="2800" b="1" dirty="0">
              <a:solidFill>
                <a:srgbClr val="9F49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0" name="TextBox 18">
            <a:extLst>
              <a:ext uri="{FF2B5EF4-FFF2-40B4-BE49-F238E27FC236}">
                <a16:creationId xmlns:a16="http://schemas.microsoft.com/office/drawing/2014/main" id="{296ECA4F-CCAC-8B0A-AEAE-4636E1E787F8}"/>
              </a:ext>
            </a:extLst>
          </p:cNvPr>
          <p:cNvSpPr txBox="1"/>
          <p:nvPr/>
        </p:nvSpPr>
        <p:spPr>
          <a:xfrm>
            <a:off x="5415036" y="3321945"/>
            <a:ext cx="14777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井冈山黄连</a:t>
            </a:r>
            <a:endParaRPr lang="en-US" altLang="zh-CN" sz="2800" b="1" dirty="0">
              <a:solidFill>
                <a:srgbClr val="9F49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1" name="TextBox 18">
            <a:extLst>
              <a:ext uri="{FF2B5EF4-FFF2-40B4-BE49-F238E27FC236}">
                <a16:creationId xmlns:a16="http://schemas.microsoft.com/office/drawing/2014/main" id="{0CA77C3A-A4A0-73DC-0D7E-E299244EFB84}"/>
              </a:ext>
            </a:extLst>
          </p:cNvPr>
          <p:cNvSpPr txBox="1"/>
          <p:nvPr/>
        </p:nvSpPr>
        <p:spPr>
          <a:xfrm>
            <a:off x="7799987" y="4254628"/>
            <a:ext cx="12338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甘肃岷县当归</a:t>
            </a:r>
            <a:endParaRPr lang="en-US" altLang="zh-CN" sz="2800" b="1" dirty="0">
              <a:solidFill>
                <a:srgbClr val="9F49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2" name="TextBox 18">
            <a:extLst>
              <a:ext uri="{FF2B5EF4-FFF2-40B4-BE49-F238E27FC236}">
                <a16:creationId xmlns:a16="http://schemas.microsoft.com/office/drawing/2014/main" id="{31A102CF-8727-F38C-C579-D65AA1060B0E}"/>
              </a:ext>
            </a:extLst>
          </p:cNvPr>
          <p:cNvSpPr txBox="1"/>
          <p:nvPr/>
        </p:nvSpPr>
        <p:spPr>
          <a:xfrm>
            <a:off x="786009" y="3971581"/>
            <a:ext cx="29260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首月 </a:t>
            </a:r>
            <a:r>
              <a:rPr lang="zh-CN" altLang="en-US" sz="2400" b="1" dirty="0">
                <a:solidFill>
                  <a:srgbClr val="365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游客激增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电商平台搜索量翻倍</a:t>
            </a:r>
            <a:endParaRPr lang="ru-RU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4" name="TextBox 18">
            <a:extLst>
              <a:ext uri="{FF2B5EF4-FFF2-40B4-BE49-F238E27FC236}">
                <a16:creationId xmlns:a16="http://schemas.microsoft.com/office/drawing/2014/main" id="{4058054D-1853-F0DD-4936-FC420D6F0E3A}"/>
              </a:ext>
            </a:extLst>
          </p:cNvPr>
          <p:cNvSpPr txBox="1"/>
          <p:nvPr/>
        </p:nvSpPr>
        <p:spPr>
          <a:xfrm>
            <a:off x="4457077" y="2059738"/>
            <a:ext cx="3297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 </a:t>
            </a:r>
            <a:r>
              <a:rPr lang="zh-CN" altLang="en-US" sz="2400" b="1" dirty="0">
                <a:solidFill>
                  <a:srgbClr val="365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国家级科研基金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支持</a:t>
            </a:r>
            <a:endParaRPr lang="ru-RU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5" name="TextBox 18">
            <a:extLst>
              <a:ext uri="{FF2B5EF4-FFF2-40B4-BE49-F238E27FC236}">
                <a16:creationId xmlns:a16="http://schemas.microsoft.com/office/drawing/2014/main" id="{776D9EDF-5955-C5D2-B173-3C247B0A3288}"/>
              </a:ext>
            </a:extLst>
          </p:cNvPr>
          <p:cNvSpPr txBox="1"/>
          <p:nvPr/>
        </p:nvSpPr>
        <p:spPr>
          <a:xfrm>
            <a:off x="8613910" y="3938123"/>
            <a:ext cx="29260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带动种植技术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/>
            <a:r>
              <a:rPr lang="zh-CN" altLang="en-US" sz="2400" b="1" dirty="0">
                <a:solidFill>
                  <a:srgbClr val="365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学习热潮</a:t>
            </a:r>
            <a:endParaRPr lang="ru-RU" altLang="zh-CN" sz="2400" b="1" dirty="0">
              <a:solidFill>
                <a:srgbClr val="3657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70CFFE12-7B4F-A348-7109-9CFA976BBAE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7" t="47142" r="64332" b="10170"/>
          <a:stretch>
            <a:fillRect/>
          </a:stretch>
        </p:blipFill>
        <p:spPr>
          <a:xfrm rot="436976" flipH="1">
            <a:off x="8629974" y="2833985"/>
            <a:ext cx="987599" cy="974248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0218D53F-D179-1930-7042-46F77433634A}"/>
              </a:ext>
            </a:extLst>
          </p:cNvPr>
          <p:cNvSpPr txBox="1"/>
          <p:nvPr/>
        </p:nvSpPr>
        <p:spPr>
          <a:xfrm>
            <a:off x="4255507" y="4779365"/>
            <a:ext cx="3580707" cy="940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ctr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多地药企</a:t>
            </a:r>
            <a:endParaRPr lang="en-US" altLang="zh-CN" sz="28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 algn="ctr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道地药材价格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b="1" kern="100" dirty="0">
                <a:solidFill>
                  <a:srgbClr val="3657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稳步提升</a:t>
            </a:r>
            <a:endParaRPr lang="zh-CN" altLang="zh-CN" sz="2000" b="1" kern="100" dirty="0">
              <a:solidFill>
                <a:srgbClr val="3657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C263F103-65FF-0DA8-C40A-88BFAF01F9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720" y="345107"/>
            <a:ext cx="2949196" cy="853514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34800F2-FBC1-EA8E-F7A4-1F6BFB60735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77" y="422799"/>
            <a:ext cx="1542536" cy="75958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04BE964-0F9F-9A46-FFA1-7CF9C14355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009" y="5745515"/>
            <a:ext cx="11144454" cy="154242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709A858-8D31-68B3-65E1-DCE2359F255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3029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5054" t="46268" r="9043" b="9005"/>
          <a:stretch>
            <a:fillRect/>
          </a:stretch>
        </p:blipFill>
        <p:spPr>
          <a:xfrm>
            <a:off x="5650308" y="1243172"/>
            <a:ext cx="953696" cy="9246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D19BAAD-7DB1-AB3F-A01F-F41B5671F73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7" t="47142" r="64332" b="10170"/>
          <a:stretch>
            <a:fillRect/>
          </a:stretch>
        </p:blipFill>
        <p:spPr>
          <a:xfrm rot="436976" flipH="1">
            <a:off x="1644347" y="2921234"/>
            <a:ext cx="987599" cy="97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27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0E061-6C91-A79E-BABF-798C99E9C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截屏2025-03-25 15.50.51">
            <a:extLst>
              <a:ext uri="{FF2B5EF4-FFF2-40B4-BE49-F238E27FC236}">
                <a16:creationId xmlns:a16="http://schemas.microsoft.com/office/drawing/2014/main" id="{49BAFBF4-FE64-6594-42BD-F2251B95E5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8"/>
          <a:stretch>
            <a:fillRect/>
          </a:stretch>
        </p:blipFill>
        <p:spPr>
          <a:xfrm>
            <a:off x="0" y="0"/>
            <a:ext cx="12192000" cy="31877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137B4B6-119C-0AD9-0E1D-F617008E1B40}"/>
              </a:ext>
            </a:extLst>
          </p:cNvPr>
          <p:cNvSpPr/>
          <p:nvPr/>
        </p:nvSpPr>
        <p:spPr>
          <a:xfrm>
            <a:off x="0" y="0"/>
            <a:ext cx="12192000" cy="3187700"/>
          </a:xfrm>
          <a:prstGeom prst="rect">
            <a:avLst/>
          </a:prstGeom>
          <a:solidFill>
            <a:srgbClr val="36573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5CA26395-297E-EAF6-EB32-6032815C97EA}"/>
              </a:ext>
            </a:extLst>
          </p:cNvPr>
          <p:cNvSpPr txBox="1">
            <a:spLocks/>
          </p:cNvSpPr>
          <p:nvPr/>
        </p:nvSpPr>
        <p:spPr>
          <a:xfrm>
            <a:off x="2438082" y="620406"/>
            <a:ext cx="7315835" cy="5619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本草流芳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》2026</a:t>
            </a:r>
            <a:endParaRPr lang="zh-CN" altLang="zh-CN" sz="32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占位符 19">
            <a:extLst>
              <a:ext uri="{FF2B5EF4-FFF2-40B4-BE49-F238E27FC236}">
                <a16:creationId xmlns:a16="http://schemas.microsoft.com/office/drawing/2014/main" id="{3A80CEBA-72DD-399B-4AC3-1E2A7F9646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0" r="15610"/>
          <a:stretch/>
        </p:blipFill>
        <p:spPr>
          <a:xfrm>
            <a:off x="5471958" y="2506254"/>
            <a:ext cx="1513840" cy="1515864"/>
          </a:xfrm>
          <a:prstGeom prst="ellipse">
            <a:avLst/>
          </a:prstGeom>
          <a:effectLst>
            <a:outerShdw blurRad="101600" dir="5400000" sx="58000" sy="58000" algn="ctr" rotWithShape="0">
              <a:srgbClr val="000000">
                <a:alpha val="69000"/>
              </a:srgbClr>
            </a:outerShdw>
          </a:effec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0B76D73-FE34-E434-8BA2-B759B6E6C2A3}"/>
              </a:ext>
            </a:extLst>
          </p:cNvPr>
          <p:cNvSpPr txBox="1"/>
          <p:nvPr/>
        </p:nvSpPr>
        <p:spPr>
          <a:xfrm>
            <a:off x="2512087" y="4269251"/>
            <a:ext cx="10442752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国家多部委启动</a:t>
            </a:r>
            <a:r>
              <a:rPr lang="zh-CN" altLang="en-US" sz="2000" b="1" dirty="0">
                <a:solidFill>
                  <a:srgbClr val="3657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“中医药入境消费”专项试点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5799E83-4862-1418-CA30-0DEB6055A675}"/>
              </a:ext>
            </a:extLst>
          </p:cNvPr>
          <p:cNvSpPr txBox="1"/>
          <p:nvPr/>
        </p:nvSpPr>
        <p:spPr>
          <a:xfrm>
            <a:off x="773722" y="4276296"/>
            <a:ext cx="1738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政策东风：</a:t>
            </a:r>
            <a:endParaRPr lang="zh-CN" altLang="en-US" sz="2400" dirty="0">
              <a:solidFill>
                <a:srgbClr val="9F4928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6E66161-8FF4-6D29-ECDA-B6D110802EC7}"/>
              </a:ext>
            </a:extLst>
          </p:cNvPr>
          <p:cNvSpPr txBox="1"/>
          <p:nvPr/>
        </p:nvSpPr>
        <p:spPr>
          <a:xfrm>
            <a:off x="773722" y="4881228"/>
            <a:ext cx="1738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657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核心目标：</a:t>
            </a:r>
            <a:endParaRPr lang="zh-CN" altLang="en-US" sz="2400" dirty="0">
              <a:solidFill>
                <a:srgbClr val="36573A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89340C3-BDD5-3900-14A8-F7BC0D5BFDAF}"/>
              </a:ext>
            </a:extLst>
          </p:cNvPr>
          <p:cNvSpPr txBox="1"/>
          <p:nvPr/>
        </p:nvSpPr>
        <p:spPr>
          <a:xfrm>
            <a:off x="2512087" y="4839782"/>
            <a:ext cx="10442752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让海外消费者 </a:t>
            </a:r>
            <a:r>
              <a:rPr lang="zh-CN" altLang="en-US" sz="24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知道中国好药</a:t>
            </a:r>
            <a:r>
              <a:rPr lang="zh-CN" altLang="en-US" sz="20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来中国用好药、把中国好药带回去</a:t>
            </a:r>
            <a:endParaRPr lang="zh-CN" altLang="en-US" sz="2000" b="1" dirty="0">
              <a:solidFill>
                <a:srgbClr val="9F49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F6C8095-D94D-CBF7-E21B-D21969DF3F65}"/>
              </a:ext>
            </a:extLst>
          </p:cNvPr>
          <p:cNvSpPr txBox="1"/>
          <p:nvPr/>
        </p:nvSpPr>
        <p:spPr>
          <a:xfrm>
            <a:off x="140674" y="5627303"/>
            <a:ext cx="2582542" cy="470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2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2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2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·10</a:t>
            </a:r>
            <a:r>
              <a:rPr lang="zh-CN" altLang="en-US" sz="22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r>
              <a:rPr lang="en-US" altLang="zh-CN" sz="22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200" dirty="0">
              <a:solidFill>
                <a:srgbClr val="9F4928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E03FD6A-48F1-79C4-10E3-6B044B30B330}"/>
              </a:ext>
            </a:extLst>
          </p:cNvPr>
          <p:cNvSpPr txBox="1"/>
          <p:nvPr/>
        </p:nvSpPr>
        <p:spPr>
          <a:xfrm>
            <a:off x="2512087" y="5439560"/>
            <a:ext cx="10442752" cy="131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聚焦 </a:t>
            </a:r>
            <a:r>
              <a:rPr lang="zh-CN" altLang="en-US" sz="2400" b="1" dirty="0">
                <a:solidFill>
                  <a:srgbClr val="3657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更多道地药材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（刺五加、恒山黄芪、酸枣、天麻等）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3657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呈现：植物溯源、考古发现、食药同源</a:t>
            </a:r>
          </a:p>
          <a:p>
            <a:pPr>
              <a:lnSpc>
                <a:spcPct val="120000"/>
              </a:lnSpc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2962CA2-D83A-3D0C-6D47-65B89440D7D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77" y="422799"/>
            <a:ext cx="1542536" cy="75958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A1BFD12-4795-6B6D-E9CC-C90582C725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720" y="134449"/>
            <a:ext cx="2949196" cy="853514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D1C739E-0C8B-9151-699B-7574758AD2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896" y="1062914"/>
            <a:ext cx="10876207" cy="12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7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42FD67-121D-EDAB-FC8B-C31BAE3E5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4" descr="截屏2025-03-25 16.06.30">
            <a:extLst>
              <a:ext uri="{FF2B5EF4-FFF2-40B4-BE49-F238E27FC236}">
                <a16:creationId xmlns:a16="http://schemas.microsoft.com/office/drawing/2014/main" id="{754661CC-B6E1-490E-FA0C-165AAC3B16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81" r="18804" b="34143"/>
          <a:stretch>
            <a:fillRect/>
          </a:stretch>
        </p:blipFill>
        <p:spPr>
          <a:xfrm>
            <a:off x="1217411" y="0"/>
            <a:ext cx="11047325" cy="6887375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9210FBE2-09D2-4202-EFAB-F78DAEE64A6F}"/>
              </a:ext>
            </a:extLst>
          </p:cNvPr>
          <p:cNvSpPr/>
          <p:nvPr/>
        </p:nvSpPr>
        <p:spPr>
          <a:xfrm>
            <a:off x="1076976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BE5D6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A4CBAD0-7C90-7E67-73C2-A58ACC1CFF5D}"/>
              </a:ext>
            </a:extLst>
          </p:cNvPr>
          <p:cNvSpPr txBox="1"/>
          <p:nvPr/>
        </p:nvSpPr>
        <p:spPr>
          <a:xfrm>
            <a:off x="5028722" y="2291696"/>
            <a:ext cx="2280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冠名合作</a:t>
            </a:r>
            <a:endParaRPr lang="zh-CN" altLang="en-US" sz="2400" dirty="0">
              <a:solidFill>
                <a:srgbClr val="9F4928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660912C-6935-F6B7-802F-24464899E12C}"/>
              </a:ext>
            </a:extLst>
          </p:cNvPr>
          <p:cNvSpPr txBox="1"/>
          <p:nvPr/>
        </p:nvSpPr>
        <p:spPr>
          <a:xfrm>
            <a:off x="4790788" y="4319990"/>
            <a:ext cx="2610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rgbClr val="9F49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定制纪录片</a:t>
            </a:r>
            <a:endParaRPr lang="zh-CN" altLang="en-US" sz="2400" dirty="0">
              <a:solidFill>
                <a:srgbClr val="9F4928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667A677-38B2-3C0C-65EE-986DFC203B9E}"/>
              </a:ext>
            </a:extLst>
          </p:cNvPr>
          <p:cNvSpPr txBox="1"/>
          <p:nvPr/>
        </p:nvSpPr>
        <p:spPr>
          <a:xfrm>
            <a:off x="660677" y="2796219"/>
            <a:ext cx="10442752" cy="941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CCTV-1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3657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黄金时段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播出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400" b="1" dirty="0">
                <a:solidFill>
                  <a:srgbClr val="3657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总台新媒体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矩阵传播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rgbClr val="3657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3.61</a:t>
            </a:r>
            <a:r>
              <a:rPr lang="zh-CN" altLang="en-US" sz="2400" b="1" dirty="0">
                <a:solidFill>
                  <a:srgbClr val="3657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亿人次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触达的曝光加持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0D9AF1A-EAA3-95A9-7EBC-A727606B5095}"/>
              </a:ext>
            </a:extLst>
          </p:cNvPr>
          <p:cNvSpPr txBox="1"/>
          <p:nvPr/>
        </p:nvSpPr>
        <p:spPr>
          <a:xfrm>
            <a:off x="531837" y="4898379"/>
            <a:ext cx="10442752" cy="867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CCTV-1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黄金时段呈现</a:t>
            </a:r>
          </a:p>
          <a:p>
            <a:pPr algn="ctr">
              <a:lnSpc>
                <a:spcPct val="12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打造从种植到临床的完整 </a:t>
            </a:r>
            <a:r>
              <a:rPr lang="zh-CN" altLang="en-US" sz="2400" b="1" dirty="0">
                <a:solidFill>
                  <a:srgbClr val="3657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品牌故事</a:t>
            </a:r>
            <a:endParaRPr lang="zh-CN" altLang="en-US" sz="2000" b="1" dirty="0">
              <a:solidFill>
                <a:srgbClr val="3657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87BC4E6-5E42-210E-58A1-480076F9D9D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77" y="422799"/>
            <a:ext cx="1542536" cy="75958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8FCB113-AF86-A9C2-14DD-3557DD8D54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720" y="134449"/>
            <a:ext cx="2949196" cy="8535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FD5CBC0-5B53-E3DF-7849-2D34294B5C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82" b="20796"/>
          <a:stretch>
            <a:fillRect/>
          </a:stretch>
        </p:blipFill>
        <p:spPr>
          <a:xfrm rot="20799825">
            <a:off x="1311407" y="3333442"/>
            <a:ext cx="1737496" cy="27806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0AF02BC-AB5D-ED51-7A6E-302ABBDCE7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01" r="44213"/>
          <a:stretch>
            <a:fillRect/>
          </a:stretch>
        </p:blipFill>
        <p:spPr>
          <a:xfrm>
            <a:off x="861161" y="4808727"/>
            <a:ext cx="1915199" cy="186311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0C33DAB-B27B-592F-D446-94528F1148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4179" y="1131843"/>
            <a:ext cx="7303641" cy="80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78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4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7DB3A-7688-EAB0-89E6-70E6C2B7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135A847-C4A3-9B4C-608C-FFC4BF15D9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38" t="3735" r="16908" b="12017"/>
          <a:stretch>
            <a:fillRect/>
          </a:stretch>
        </p:blipFill>
        <p:spPr>
          <a:xfrm>
            <a:off x="3894306" y="-4864"/>
            <a:ext cx="8297694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8558BF0-53E0-AE5C-DFBE-A27BC48EE55E}"/>
              </a:ext>
            </a:extLst>
          </p:cNvPr>
          <p:cNvSpPr/>
          <p:nvPr/>
        </p:nvSpPr>
        <p:spPr>
          <a:xfrm>
            <a:off x="3894306" y="5527"/>
            <a:ext cx="6485641" cy="6858000"/>
          </a:xfrm>
          <a:prstGeom prst="rect">
            <a:avLst/>
          </a:prstGeom>
          <a:gradFill flip="none" rotWithShape="1">
            <a:gsLst>
              <a:gs pos="0">
                <a:srgbClr val="9F4928">
                  <a:alpha val="0"/>
                </a:srgbClr>
              </a:gs>
              <a:gs pos="100000">
                <a:srgbClr val="9F49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2FAB69A-EF71-3DED-25E8-86F35BF16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720" y="345107"/>
            <a:ext cx="2949196" cy="853514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E0BAA11-6B8D-2B21-1300-D72CE11E749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9" y="345107"/>
            <a:ext cx="1542536" cy="75958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FEC3710-C97C-2EC7-C941-5A2BE73A9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2053" y="2826700"/>
            <a:ext cx="2105544" cy="295203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8D7E00E-0F76-B5BC-87D8-FB6BE5FBF8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705" y="1436284"/>
            <a:ext cx="5529551" cy="151803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7D33C6-A84E-FE26-842D-4F3473C486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6388" y="5977673"/>
            <a:ext cx="3615241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20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341</Words>
  <Application>Microsoft Office PowerPoint</Application>
  <PresentationFormat>宽屏</PresentationFormat>
  <Paragraphs>56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桓竹 周</dc:creator>
  <cp:lastModifiedBy>桓竹 周</cp:lastModifiedBy>
  <cp:revision>25</cp:revision>
  <dcterms:created xsi:type="dcterms:W3CDTF">2026-06-12T01:58:09Z</dcterms:created>
  <dcterms:modified xsi:type="dcterms:W3CDTF">2026-06-14T00:19:39Z</dcterms:modified>
</cp:coreProperties>
</file>